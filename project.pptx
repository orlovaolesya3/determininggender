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5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6A3CF-BFA8-45D5-8126-FABE6BC1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4505A0-1229-4EF9-BC1E-E6C87F7DF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F3F3DF-B1E4-4910-82FB-FA8B18DC8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23BD99-50E2-44F5-A1E3-CF158935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F4C588-38D0-4D71-9601-A071A28E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16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F2893-A219-432F-BFEB-B5F4DEE4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ECFB1-75B2-47EC-9696-4C50A3428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DED118-24FB-4220-8A9C-6D3C7B797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6D128B-E915-4916-B7B9-69570FE8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4D024F-089C-46CB-AC0B-D881089B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795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7BAF3-416E-42DD-BB7F-B2B52211C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FC1831-6327-45F0-A154-0C3CB5150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0C68B1-5F07-4DD5-B231-6EBAA88FA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068DE5-A2D5-4CD9-B3ED-102F9244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A11FF9-7F59-4F25-863A-BD8CC734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86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9938A-B5C5-4AB4-89C1-B23772FA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424011-DABB-4B86-AE04-3525B5D52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3853F4-B35E-413B-A7A7-5F62F3A7A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11A98A-46D5-422E-8A50-B23B54AD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E1E2AA-3FF9-498E-99D4-6CB351D1F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5B86F8-3EE2-4C5F-BCEC-E577B02F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169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2ED3D-04CB-467C-8B70-2DDBC114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B08D68-08F4-4717-A054-7204EB83B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4FA58A-82DF-4561-8F6F-866FF3ED9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0D19E4F-15CC-4BF0-8C91-EF66B7E5F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35EC74-9BC5-4D83-8BD0-1CF9BAD71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58808B-677A-40BB-A165-9360913E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384687-0FEB-4CE4-A013-B8D481C3E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E2D0C25-1E78-4BBC-ADE2-235EE260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33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769D8-7C70-48EE-BC20-13DA17C1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E4DC6EB-D20D-4DA6-B817-DAB9D94AE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7D327E-9A32-49F0-9DF3-FF8BC049C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2549C36-E704-4B60-B0D6-A46F3B127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83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14CA2BD-B935-483D-87B3-CB6DA364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6993AFA-BF5D-4121-873C-32580B0F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A725C4-94CD-4165-992F-7F6E9B75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16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A1A71-B03A-4E48-A545-BECF9DF58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33E8F6-988A-435C-AAE5-ECCDD0C40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522F9D-615A-4018-B9EE-422383CD0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A382C3-1DD1-4A53-B730-1DC1F65CE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48B778-2862-4275-A6D7-9C992814A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02D05E-1341-48B4-974D-2270D6A82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68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5840A-EE31-464C-BF31-BCD8F68D3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5A85AA-D25D-450F-90C6-F17613B19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7FB2EF-BDB7-4D2F-9E2E-0676243C4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FFC160-373D-4611-8171-28804FE89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D0707F-6309-4EBC-B060-F8116CAE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9357CE-E777-46FC-9A06-31F4974B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291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E8F309-456D-44FE-833D-66C963AB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C74CF9-D63C-4CE6-B30F-04965C0AE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2949F4-1C71-4EA1-B3C1-58A6A35D1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2537B9-E830-4ADD-9CD3-2A112186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193E93-0F8D-44E5-BBC6-7E7DCD4DB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48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A1DBDA5-D70D-4429-9DF2-A103EBA08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6AEBF5-7942-4CBD-BDE8-3D8727499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182FC-859E-4125-8077-0827CF8AC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6B450C-57D1-4311-AB22-21E2810B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B55E9E-5CA2-42EC-8EC5-7ACF43E6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71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A527F-FF3B-4A28-AB59-11B472F1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70695B-744F-4A45-88F7-FEBE9D652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FDCCDD-597D-4A13-B07C-984A9B961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B6DAC-CE8C-43D5-BCBC-18B4BD15B475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91CF32-66BA-4361-B468-5A7EFE7EF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9A32A1-9839-4F48-BECD-50BBA9FBA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4935D-100D-4FD4-8D24-AE92FCE3E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65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ltralytics.com/ru" TargetMode="External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shuoyang1213.me/WIDERFAC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D60FB2C-444C-44F0-83C1-E3AEE3101148}"/>
              </a:ext>
            </a:extLst>
          </p:cNvPr>
          <p:cNvSpPr/>
          <p:nvPr/>
        </p:nvSpPr>
        <p:spPr>
          <a:xfrm>
            <a:off x="376362" y="2143727"/>
            <a:ext cx="70104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ea typeface="Calibri" panose="020F0502020204030204" pitchFamily="34" charset="0"/>
              </a:rPr>
              <a:t>Распознавание пола человека на изображении с помощью нейросети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964963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779FA2E-3CDB-48D7-9D04-86817E63BB0C}"/>
              </a:ext>
            </a:extLst>
          </p:cNvPr>
          <p:cNvSpPr/>
          <p:nvPr/>
        </p:nvSpPr>
        <p:spPr>
          <a:xfrm>
            <a:off x="224628" y="947705"/>
            <a:ext cx="6788422" cy="5647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Актуальность выбора темы проектного исследования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заключается в том,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 тема перспективная, ведь имеет широкий спектр применений. Такая нейросеть может использоваться: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автоматической идентификации людей по признаку пола в системах видеонаблюдения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автоматизированного изучения гендерного соотношения в различных местах и ситуациях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определения более подходящей рекламы и контента для пользователя, исходя из его предполагаемого пола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анализа гендерного состава посетителей магазинов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515B33-2092-4AE7-83E1-18408B8FFB73}"/>
              </a:ext>
            </a:extLst>
          </p:cNvPr>
          <p:cNvSpPr/>
          <p:nvPr/>
        </p:nvSpPr>
        <p:spPr>
          <a:xfrm>
            <a:off x="1948103" y="262595"/>
            <a:ext cx="24818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Актуальность</a:t>
            </a:r>
            <a:endParaRPr lang="ru-RU" sz="2800" dirty="0"/>
          </a:p>
        </p:txBody>
      </p:sp>
      <p:sp>
        <p:nvSpPr>
          <p:cNvPr id="9" name="AutoShape 2" descr="https://cdn.gamma.app/1h1t3iff7u6mje6/generated-images/mgWnEN_9ppZ6KwGzJ5rhw.jpg">
            <a:extLst>
              <a:ext uri="{FF2B5EF4-FFF2-40B4-BE49-F238E27FC236}">
                <a16:creationId xmlns:a16="http://schemas.microsoft.com/office/drawing/2014/main" id="{404BD833-5BAD-404F-B75F-78565506CC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CB614A-EC67-4B59-AC8D-CC1FBDCE1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49" t="6956" r="12720" b="11537"/>
          <a:stretch/>
        </p:blipFill>
        <p:spPr>
          <a:xfrm>
            <a:off x="7323152" y="190026"/>
            <a:ext cx="4644220" cy="647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1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E33C4E-D81B-4536-A546-C4F41520FAE7}"/>
              </a:ext>
            </a:extLst>
          </p:cNvPr>
          <p:cNvSpPr/>
          <p:nvPr/>
        </p:nvSpPr>
        <p:spPr>
          <a:xfrm>
            <a:off x="240077" y="1159148"/>
            <a:ext cx="11711845" cy="453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проектного исследования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разработать нейросеть для распознавания пола человека на изображении и исследовать её на реальных фотографиях.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 проектного исследования: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провести анализ технического задания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сделать обзор и анализ существующих решений для обнаружения и классификации изображений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сформировать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датасет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для обучения модели и разметить объекты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программный код для машинного обучения модели и реализовать систему распознавания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протестировать работу системы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D590E2-862F-445C-8034-EDAD4757913E}"/>
              </a:ext>
            </a:extLst>
          </p:cNvPr>
          <p:cNvSpPr/>
          <p:nvPr/>
        </p:nvSpPr>
        <p:spPr>
          <a:xfrm>
            <a:off x="3183151" y="246692"/>
            <a:ext cx="6720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и задачи проектного исследования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7161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F975CE9-85DE-4675-B8F5-95B1CE1EB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20" y="517803"/>
            <a:ext cx="1206477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/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Содержимое файла, из которого получена разметка: </a:t>
            </a:r>
          </a:p>
          <a:p>
            <a:pPr indent="0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{"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[{"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scene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0, "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/0--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Parade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/0_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Parade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marchingband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_1_100.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jpg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</a:p>
          <a:p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[{"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[1, -1, -1, -1, -1, 1, -1, 0, 0, 0, 0, -1, 1, -1], </a:t>
            </a:r>
          </a:p>
          <a:p>
            <a:pPr lvl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[711.97923875432525, 208.17301038062283, 308.26297577854672, 448.22145328719722]}, </a:t>
            </a:r>
          </a:p>
          <a:p>
            <a:pPr lvl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{"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[-1, -1, -1, -1, -1, -1, -1, 0, -1, 0, 0, -1, -1, -1], </a:t>
            </a:r>
          </a:p>
          <a:p>
            <a:pPr lvl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[745.63106796116506, 180.37170596393898, 100.8377253814147, 217.2981969486824]}, ...</a:t>
            </a:r>
          </a:p>
          <a:p>
            <a:pPr lvl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 человека – первый элемент в массиве "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(-1 – женский, 1 - мужской).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0082A5-1B0F-4AD9-8253-16668D8D5E9F}"/>
              </a:ext>
            </a:extLst>
          </p:cNvPr>
          <p:cNvSpPr/>
          <p:nvPr/>
        </p:nvSpPr>
        <p:spPr>
          <a:xfrm>
            <a:off x="454549" y="104549"/>
            <a:ext cx="114101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Формирование </a:t>
            </a:r>
            <a:r>
              <a:rPr lang="ru-RU" alt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alt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обучения модели и разметка объектов</a:t>
            </a:r>
            <a:endParaRPr lang="ru-RU" sz="28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DD6C1E2-86B6-4062-A333-56569BD8C2F8}"/>
              </a:ext>
            </a:extLst>
          </p:cNvPr>
          <p:cNvSpPr/>
          <p:nvPr/>
        </p:nvSpPr>
        <p:spPr>
          <a:xfrm>
            <a:off x="127220" y="3151861"/>
            <a:ext cx="87782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разметки:</a:t>
            </a:r>
          </a:p>
          <a:p>
            <a:pPr lvl="1"/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open('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wider_attribute_trainval.json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'r') as f:</a:t>
            </a:r>
          </a:p>
          <a:p>
            <a:pPr lvl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=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json.load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Объявление функции для преобразования координат: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convert_to_yolo_format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img_width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img_height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3"/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x_min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y_min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width, height =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3"/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x_center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x_min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width / 2) /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img_width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3"/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y_center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y_min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height / 2) /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img_height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3"/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width /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img_width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3"/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height /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img_height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3"/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x_center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y_center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w, h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847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4" descr="val_batch1_pred">
            <a:extLst>
              <a:ext uri="{FF2B5EF4-FFF2-40B4-BE49-F238E27FC236}">
                <a16:creationId xmlns:a16="http://schemas.microsoft.com/office/drawing/2014/main" id="{F3021795-F99A-46CE-A22B-991178673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65" y="757037"/>
            <a:ext cx="10177670" cy="583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29FAB8-A79E-4C53-87B0-811299E6D522}"/>
              </a:ext>
            </a:extLst>
          </p:cNvPr>
          <p:cNvSpPr/>
          <p:nvPr/>
        </p:nvSpPr>
        <p:spPr>
          <a:xfrm>
            <a:off x="1205948" y="98126"/>
            <a:ext cx="97801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8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Примеры изображений и разметки в исходном </a:t>
            </a:r>
            <a:r>
              <a:rPr lang="ru-RU" alt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датасете</a:t>
            </a:r>
            <a:endParaRPr lang="ru-RU" altLang="ru-RU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71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93537DC-B74A-4745-8363-327C83774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47" y="627769"/>
            <a:ext cx="1196472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/>
            <a:r>
              <a:rPr lang="ru-RU" alt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Обработка каждого изображения из </a:t>
            </a:r>
            <a:r>
              <a:rPr lang="ru-RU" altLang="ru-RU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alt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создание файла разметки </a:t>
            </a:r>
            <a:r>
              <a:rPr lang="en-US" alt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YOLO </a:t>
            </a:r>
            <a:r>
              <a:rPr lang="ru-RU" alt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аннотацией пола (0 - мужчина, 1 - женщина):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image_info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data['images']: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file_name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image_info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file_name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img_path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os.path.join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('Image',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file_name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4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img_path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4"/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img_width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img_height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img.size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except Exception as e: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4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"Ошибка при открытии изображения {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}: {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}")</a:t>
            </a:r>
          </a:p>
          <a:p>
            <a:pPr marL="914400" lvl="4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 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txt_file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os.path.splitext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img_path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)[0] + '.txt'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txt_file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open(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txt_file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'w') as f: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4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target in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image_info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['targets']: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6"/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target['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6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attribute = target['attribute']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6"/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gender = 0 if attribute[0] == 1 else 1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6"/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x_center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y_center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w, h =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convert_to_yolo_format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bbox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img_width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img_height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6"/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f.write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(f"{gender} {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x_center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{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y_center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{w} {h}\n")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241E5AC-DB47-4C25-8A58-1F75731A92C4}"/>
              </a:ext>
            </a:extLst>
          </p:cNvPr>
          <p:cNvSpPr/>
          <p:nvPr/>
        </p:nvSpPr>
        <p:spPr>
          <a:xfrm>
            <a:off x="454549" y="104549"/>
            <a:ext cx="114101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Формирование </a:t>
            </a:r>
            <a:r>
              <a:rPr lang="ru-RU" altLang="ru-RU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altLang="ru-RU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обучения модели и разметка объектов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1908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F31C21-4826-42DF-8AC1-3F36CC8BC157}"/>
              </a:ext>
            </a:extLst>
          </p:cNvPr>
          <p:cNvSpPr/>
          <p:nvPr/>
        </p:nvSpPr>
        <p:spPr>
          <a:xfrm>
            <a:off x="74212" y="0"/>
            <a:ext cx="120435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программного кода для машинного обучения модели и реализация системы распознавания</a:t>
            </a:r>
            <a:endParaRPr lang="ru-RU" sz="28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081B4A0-A462-488C-BDAD-A1A7202F4DA7}"/>
              </a:ext>
            </a:extLst>
          </p:cNvPr>
          <p:cNvSpPr/>
          <p:nvPr/>
        </p:nvSpPr>
        <p:spPr>
          <a:xfrm>
            <a:off x="356483" y="1014980"/>
            <a:ext cx="1147903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Загрузка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предобученной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модели YOLOv8:</a:t>
            </a:r>
          </a:p>
          <a:p>
            <a:pPr lvl="1"/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YOLO("yolov8n.pt") </a:t>
            </a:r>
          </a:p>
          <a:p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Обучение модели на 50 эпохах: </a:t>
            </a:r>
          </a:p>
          <a:p>
            <a:pPr lvl="1"/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results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model.train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="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data.yaml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",		# Путь к файлу конфигурации данных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epochs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=50,			# Количество эпох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batch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=16,			# Размер 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батча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imgsz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=640,			# Размер изображения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device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="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cpu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", 			# Использовать GPU 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="yolov8_custom"  	# Имя эксперимента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lvl="1"/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Сохранение обученной модели: 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/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model.export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format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="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onnx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")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72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E5EA4A-9436-47DE-B585-03D5B2F5AEBC}"/>
              </a:ext>
            </a:extLst>
          </p:cNvPr>
          <p:cNvSpPr/>
          <p:nvPr/>
        </p:nvSpPr>
        <p:spPr>
          <a:xfrm>
            <a:off x="3504809" y="0"/>
            <a:ext cx="51823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Тестирование работы системы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7EA6B6-4315-40BB-A253-D357F60E69F3}"/>
              </a:ext>
            </a:extLst>
          </p:cNvPr>
          <p:cNvSpPr/>
          <p:nvPr/>
        </p:nvSpPr>
        <p:spPr>
          <a:xfrm>
            <a:off x="213360" y="523220"/>
            <a:ext cx="11415422" cy="626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Загрузка обученной модели YOLOv8:</a:t>
            </a:r>
          </a:p>
          <a:p>
            <a:pPr lvl="1"/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YOLO("best.pt")</a:t>
            </a:r>
          </a:p>
          <a:p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Загрузка изображения для тестирования:</a:t>
            </a:r>
          </a:p>
          <a:p>
            <a:pPr lvl="1"/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image_path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"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jpg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# Путь к изображению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 = cv2.imread(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image_path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Получение и обработка результатов модели: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=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model.predict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(image,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=0.2)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result in results: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boxes =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result.boxes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for box in boxes: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12192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x1, y1, x2, y2 = map(int,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box.xyxy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[0])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cls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box.cls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[0])  		# Класс (0 - мужчина, 1 - женщина)</a:t>
            </a:r>
          </a:p>
          <a:p>
            <a:pPr lvl="1">
              <a:tabLst>
                <a:tab pos="12192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 = float(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box.conf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[0]) 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Уверенность</a:t>
            </a:r>
          </a:p>
          <a:p>
            <a:pPr lvl="1"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gender =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get_gender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	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определяющая пол по предсказанию</a:t>
            </a:r>
          </a:p>
          <a:p>
            <a:pPr lvl="1"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(0, 255, 0)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gender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== "М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(0, 0, 255) # Зеленый для мужчин, красный для женщин</a:t>
            </a:r>
          </a:p>
          <a:p>
            <a:pPr lvl="1">
              <a:tabLst>
                <a:tab pos="12192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cv2.rectangle(image, (x1, y1), (x2, y2), color, 2)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label = f"{gender} {conf:.2f}"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600"/>
              </a:spcAft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cv2.putText(image, label, (x1, y1 - 10), cv2.FONT_HERSHEY_SIMPLEX, 0.9, color, 2)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Вывод размеченного изображения: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tabLst>
                <a:tab pos="121920" algn="l"/>
              </a:tabLs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cv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imshow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YOLOv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Detection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",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lvl="1">
              <a:tabLst>
                <a:tab pos="12192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cv2.waitKey(0)</a:t>
            </a:r>
          </a:p>
          <a:p>
            <a:pPr lvl="1">
              <a:tabLst>
                <a:tab pos="12192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cv2.destroyAllWindows()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959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09BBFDB-3242-4BD0-84F6-FCB9CFDA5AD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75692" y="545893"/>
            <a:ext cx="8440615" cy="6221046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0013915-B129-4674-A003-8370903763E3}"/>
              </a:ext>
            </a:extLst>
          </p:cNvPr>
          <p:cNvSpPr/>
          <p:nvPr/>
        </p:nvSpPr>
        <p:spPr>
          <a:xfrm>
            <a:off x="3577328" y="0"/>
            <a:ext cx="50373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Результат работы программы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594301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CA632A-9B56-415E-BFB6-FBBC16EA30CD}"/>
              </a:ext>
            </a:extLst>
          </p:cNvPr>
          <p:cNvSpPr/>
          <p:nvPr/>
        </p:nvSpPr>
        <p:spPr>
          <a:xfrm>
            <a:off x="185529" y="1106796"/>
            <a:ext cx="11820939" cy="4197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Выполнен обзор и анализ существующих решений для обнаружения и классификации изображений. Для решения задачи в качестве средства выбрана модель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YOLO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 библиотеки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ultralytics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Библиотека является одной из самых популярных и эффективных моделей для обнаружения объектов в изображениях.</a:t>
            </a:r>
          </a:p>
          <a:p>
            <a:pPr>
              <a:lnSpc>
                <a:spcPct val="150000"/>
              </a:lnSpc>
            </a:pP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Разработана и протестирована система распознавания пола человека по изображению: 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разработана программа для преобразования исходного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датасета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формат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YOLO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написан код для обучения и предсказания модели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YOLO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позволяющий выполнить локализацию изображений людей и классификацию их пола;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программный код протестирован на изображении с 18 людьми.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F034260-F28F-4E56-995F-EFAED15317B1}"/>
              </a:ext>
            </a:extLst>
          </p:cNvPr>
          <p:cNvSpPr/>
          <p:nvPr/>
        </p:nvSpPr>
        <p:spPr>
          <a:xfrm>
            <a:off x="5018236" y="270344"/>
            <a:ext cx="21555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94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E7D5F4-AF3F-4439-AA96-A1E0B617639E}"/>
              </a:ext>
            </a:extLst>
          </p:cNvPr>
          <p:cNvSpPr/>
          <p:nvPr/>
        </p:nvSpPr>
        <p:spPr>
          <a:xfrm>
            <a:off x="612891" y="2065676"/>
            <a:ext cx="9356036" cy="1841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tabLst>
                <a:tab pos="121920" algn="l"/>
              </a:tabLs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3.13.2 documentation </a:t>
            </a:r>
            <a:r>
              <a:rPr 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https://docs.python.org/3/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tabLst>
                <a:tab pos="121920" algn="l"/>
              </a:tabLs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Ultralytics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YOLO Docs </a:t>
            </a:r>
            <a:r>
              <a:rPr 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https://docs.ultralytics.com/ru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tabLst>
                <a:tab pos="121920" algn="l"/>
              </a:tabLst>
            </a:pP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Датасет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WIDERFACE </a:t>
            </a:r>
            <a:r>
              <a:rPr 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http://shuoyang1213.me/WIDERFACE/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E9A2B7-7DDC-415D-BD68-11168636AA36}"/>
              </a:ext>
            </a:extLst>
          </p:cNvPr>
          <p:cNvSpPr/>
          <p:nvPr/>
        </p:nvSpPr>
        <p:spPr>
          <a:xfrm>
            <a:off x="4172012" y="540365"/>
            <a:ext cx="3847976" cy="752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  <a:tabLst>
                <a:tab pos="121920" algn="l"/>
              </a:tabLst>
            </a:pPr>
            <a:r>
              <a:rPr lang="ru-RU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Список источников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4295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1227</Words>
  <Application>Microsoft Office PowerPoint</Application>
  <PresentationFormat>Широкоэкранный</PresentationFormat>
  <Paragraphs>108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Olesya</dc:creator>
  <cp:lastModifiedBy>Olesya</cp:lastModifiedBy>
  <cp:revision>24</cp:revision>
  <dcterms:created xsi:type="dcterms:W3CDTF">2025-03-30T18:55:25Z</dcterms:created>
  <dcterms:modified xsi:type="dcterms:W3CDTF">2026-03-28T09:27:55Z</dcterms:modified>
</cp:coreProperties>
</file>